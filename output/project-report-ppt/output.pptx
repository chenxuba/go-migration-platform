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7957e4345b4baf" /><Relationship Type="http://schemas.openxmlformats.org/officeDocument/2006/relationships/extended-properties" Target="/docProps/app.xml" Id="Rdaf78eaa02c84042" /><Relationship Type="http://schemas.openxmlformats.org/officeDocument/2006/relationships/officeDocument" Target="/ppt/presentation.xml" Id="R38072f1dc5b345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e3c419e5d4411c"/>
  </p:sldMasterIdLst>
  <p:notesMasterIdLst>
    <p:notesMasterId xmlns:r="http://schemas.openxmlformats.org/officeDocument/2006/relationships" r:id="R6b6399254b5e48aa"/>
  </p:notesMasterIdLst>
  <p:sldIdLst>
    <p:sldId xmlns:r="http://schemas.openxmlformats.org/officeDocument/2006/relationships" id="256" r:id="Rd41ac6e16b53481d"/>
    <p:sldId xmlns:r="http://schemas.openxmlformats.org/officeDocument/2006/relationships" id="257" r:id="R2da41df8ac044f51"/>
    <p:sldId xmlns:r="http://schemas.openxmlformats.org/officeDocument/2006/relationships" id="258" r:id="R71f3d889f350498d"/>
    <p:sldId xmlns:r="http://schemas.openxmlformats.org/officeDocument/2006/relationships" id="259" r:id="R7d44270aeed146f5"/>
    <p:sldId xmlns:r="http://schemas.openxmlformats.org/officeDocument/2006/relationships" id="260" r:id="R55d1f0703de5409f"/>
    <p:sldId xmlns:r="http://schemas.openxmlformats.org/officeDocument/2006/relationships" id="261" r:id="R1a58cb2b9f5b407a"/>
    <p:sldId xmlns:r="http://schemas.openxmlformats.org/officeDocument/2006/relationships" id="262" r:id="R8617e2e3fc194854"/>
    <p:sldId xmlns:r="http://schemas.openxmlformats.org/officeDocument/2006/relationships" id="263" r:id="R1060a803659a46f7"/>
    <p:sldId xmlns:r="http://schemas.openxmlformats.org/officeDocument/2006/relationships" id="264" r:id="Ref89ec72cab544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3c419e5d4411c" /><Relationship Type="http://schemas.openxmlformats.org/officeDocument/2006/relationships/theme" Target="/ppt/theme/theme1.xml" Id="R7ca4493f234e4cd2" /><Relationship Type="http://schemas.openxmlformats.org/officeDocument/2006/relationships/notesMaster" Target="/ppt/notesMasters/notesMaster1.xml" Id="R6b6399254b5e48aa" /><Relationship Type="http://schemas.openxmlformats.org/officeDocument/2006/relationships/presProps" Target="/ppt/presProps.xml" Id="R40e6f2fd865b4ae4" /><Relationship Type="http://schemas.openxmlformats.org/officeDocument/2006/relationships/viewProps" Target="/ppt/viewProps.xml" Id="R1a631b0789ed43dd" /><Relationship Type="http://schemas.openxmlformats.org/officeDocument/2006/relationships/tableStyles" Target="/ppt/tableStyles.xml" Id="R670d83e92f1f4651" /><Relationship Type="http://schemas.openxmlformats.org/officeDocument/2006/relationships/slide" Target="/ppt/slides/slide1.xml" Id="Rd41ac6e16b53481d" /><Relationship Type="http://schemas.openxmlformats.org/officeDocument/2006/relationships/slide" Target="/ppt/slides/slide2.xml" Id="R2da41df8ac044f51" /><Relationship Type="http://schemas.openxmlformats.org/officeDocument/2006/relationships/slide" Target="/ppt/slides/slide3.xml" Id="R71f3d889f350498d" /><Relationship Type="http://schemas.openxmlformats.org/officeDocument/2006/relationships/slide" Target="/ppt/slides/slide4.xml" Id="R7d44270aeed146f5" /><Relationship Type="http://schemas.openxmlformats.org/officeDocument/2006/relationships/slide" Target="/ppt/slides/slide5.xml" Id="R55d1f0703de5409f" /><Relationship Type="http://schemas.openxmlformats.org/officeDocument/2006/relationships/slide" Target="/ppt/slides/slide6.xml" Id="R1a58cb2b9f5b407a" /><Relationship Type="http://schemas.openxmlformats.org/officeDocument/2006/relationships/slide" Target="/ppt/slides/slide7.xml" Id="R8617e2e3fc194854" /><Relationship Type="http://schemas.openxmlformats.org/officeDocument/2006/relationships/slide" Target="/ppt/slides/slide8.xml" Id="R1060a803659a46f7" /><Relationship Type="http://schemas.openxmlformats.org/officeDocument/2006/relationships/slide" Target="/ppt/slides/slide9.xml" Id="Ref89ec72cab544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1d2837d604b44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c167e2bfa74712" /><Relationship Type="http://schemas.openxmlformats.org/officeDocument/2006/relationships/notesMaster" Target="/ppt/notesMasters/notesMaster1.xml" Id="R13afb5e51b74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d5eace20b74a02" /><Relationship Type="http://schemas.openxmlformats.org/officeDocument/2006/relationships/notesMaster" Target="/ppt/notesMasters/notesMaster1.xml" Id="R684dbf8fc08f4e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9b679a0a2042ec" /><Relationship Type="http://schemas.openxmlformats.org/officeDocument/2006/relationships/notesMaster" Target="/ppt/notesMasters/notesMaster1.xml" Id="R7e02a420953247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28a49cd184001" /><Relationship Type="http://schemas.openxmlformats.org/officeDocument/2006/relationships/notesMaster" Target="/ppt/notesMasters/notesMaster1.xml" Id="R5d09ec37822e45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a7624ab4454505" /><Relationship Type="http://schemas.openxmlformats.org/officeDocument/2006/relationships/notesMaster" Target="/ppt/notesMasters/notesMaster1.xml" Id="R4474c5d8214c4d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d146ff5cc946a6" /><Relationship Type="http://schemas.openxmlformats.org/officeDocument/2006/relationships/notesMaster" Target="/ppt/notesMasters/notesMaster1.xml" Id="R8633b1c22ca346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47dfa736da49f1" /><Relationship Type="http://schemas.openxmlformats.org/officeDocument/2006/relationships/notesMaster" Target="/ppt/notesMasters/notesMaster1.xml" Id="Ra1922351a40943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a0b0ec47264a9d" /><Relationship Type="http://schemas.openxmlformats.org/officeDocument/2006/relationships/notesMaster" Target="/ppt/notesMasters/notesMaster1.xml" Id="Rce7dde8b373b48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19ec0b7f0849cd" /><Relationship Type="http://schemas.openxmlformats.org/officeDocument/2006/relationships/notesMaster" Target="/ppt/notesMasters/notesMaster1.xml" Id="Re6df0fdc0a5c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338e1c49f471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6EE3D88-C265-49DC-8678-90C805B0203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979A860-CCF5-416B-AD12-8106D7BE75A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6BEA5D-A7CC-4A75-BA75-70908FCB114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26463E-62EB-426F-B891-C49794D2FF5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9e0c8b72433436e" /><Relationship Type="http://schemas.openxmlformats.org/officeDocument/2006/relationships/slideLayout" Target="/ppt/slideLayouts/slideLayout2.xml" Id="R40fbdd664f854d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97BDF0-AFFF-42C3-8009-047CFC1C9AF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bdd664f854d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e96cbd2f3474e" /><Relationship Type="http://schemas.openxmlformats.org/officeDocument/2006/relationships/image" Target="/ppt/media/image.jpeg" Id="R4950d9af35af434b" /><Relationship Type="http://schemas.openxmlformats.org/officeDocument/2006/relationships/image" Target="/ppt/media/image.png" Id="R219963714f654942" /><Relationship Type="http://schemas.openxmlformats.org/officeDocument/2006/relationships/image" Target="/ppt/media/image2.jpeg" Id="R7e7beffce7634e85" /><Relationship Type="http://schemas.openxmlformats.org/officeDocument/2006/relationships/notesSlide" Target="/ppt/notesSlides/notesSlide1.xml" Id="R3e4a43cf101741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16e99216bf4d7b" /><Relationship Type="http://schemas.openxmlformats.org/officeDocument/2006/relationships/notesSlide" Target="/ppt/notesSlides/notesSlide2.xml" Id="Rbf20ac4f430240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d7888abc384801" /><Relationship Type="http://schemas.openxmlformats.org/officeDocument/2006/relationships/notesSlide" Target="/ppt/notesSlides/notesSlide3.xml" Id="R27ae05f7a1b442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cabaf32d9343f9" /><Relationship Type="http://schemas.openxmlformats.org/officeDocument/2006/relationships/image" Target="/ppt/media/image2.png" Id="R4e00611e93ca44f9" /><Relationship Type="http://schemas.openxmlformats.org/officeDocument/2006/relationships/image" Target="/ppt/media/image3.png" Id="Ra8ff56b805a14517" /><Relationship Type="http://schemas.openxmlformats.org/officeDocument/2006/relationships/image" Target="/ppt/media/image4.png" Id="Rd0bf5c692f744679" /><Relationship Type="http://schemas.openxmlformats.org/officeDocument/2006/relationships/image" Target="/ppt/media/image5.png" Id="Rb62e471d1fc645cb" /><Relationship Type="http://schemas.openxmlformats.org/officeDocument/2006/relationships/notesSlide" Target="/ppt/notesSlides/notesSlide4.xml" Id="Rc70d92e167cb49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537e82895349bc" /><Relationship Type="http://schemas.openxmlformats.org/officeDocument/2006/relationships/image" Target="/ppt/media/image3.jpeg" Id="Rd41dee3f5e7c4957" /><Relationship Type="http://schemas.openxmlformats.org/officeDocument/2006/relationships/image" Target="/ppt/media/image4.jpeg" Id="Rd2a76f74921e4d79" /><Relationship Type="http://schemas.openxmlformats.org/officeDocument/2006/relationships/image" Target="/ppt/media/image5.jpeg" Id="Rc19d96f16b5a4a4c" /><Relationship Type="http://schemas.openxmlformats.org/officeDocument/2006/relationships/notesSlide" Target="/ppt/notesSlides/notesSlide5.xml" Id="R4aea120440ed4a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438abe60b944ec" /><Relationship Type="http://schemas.openxmlformats.org/officeDocument/2006/relationships/image" Target="/ppt/media/image6.jpeg" Id="R75884ea533df4ec5" /><Relationship Type="http://schemas.openxmlformats.org/officeDocument/2006/relationships/image" Target="/ppt/media/image7.jpeg" Id="Ra298b06bd1bb4911" /><Relationship Type="http://schemas.openxmlformats.org/officeDocument/2006/relationships/image" Target="/ppt/media/image8.jpeg" Id="R6eab8ef6772f4f70" /><Relationship Type="http://schemas.openxmlformats.org/officeDocument/2006/relationships/notesSlide" Target="/ppt/notesSlides/notesSlide6.xml" Id="R9a323e23608346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c95ab9a8540f9" /><Relationship Type="http://schemas.openxmlformats.org/officeDocument/2006/relationships/image" Target="/ppt/media/image6.png" Id="R3afb6a8860a648e4" /><Relationship Type="http://schemas.openxmlformats.org/officeDocument/2006/relationships/image" Target="/ppt/media/image7.png" Id="R473144e974084512" /><Relationship Type="http://schemas.openxmlformats.org/officeDocument/2006/relationships/notesSlide" Target="/ppt/notesSlides/notesSlide7.xml" Id="R4c54f5b7df8347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2969ac66354a79" /><Relationship Type="http://schemas.openxmlformats.org/officeDocument/2006/relationships/notesSlide" Target="/ppt/notesSlides/notesSlide8.xml" Id="R38b83c0654c044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9a23ec1b84782" /><Relationship Type="http://schemas.openxmlformats.org/officeDocument/2006/relationships/notesSlide" Target="/ppt/notesSlides/notesSlide9.xml" Id="R07f127c819e7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B4019-56F5-47FA-B2C3-193142EF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00282-F1D2-4AEF-AC82-0C3F2AF1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CC8E9-3765-4BCB-922B-485C548A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714500" cy="3238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06F"/>
                </a:solidFill>
              </a:defRPr>
            </a:pPr>
            <a:r>
              <a:rPr sz="1050" b="1">
                <a:solidFill>
                  <a:srgbClr val="14A06F"/>
                </a:solidFill>
              </a:rPr>
              <a:t>项目汇报 · 业务价值版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29AC2-6699-49C4-A99A-27E3563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561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教育康复多端业务平台</a:t>
            </a:r>
          </a:p>
          <a:p xmlns:a="http://schemas.openxmlformats.org/drawingml/2006/main">
            <a:pPr algn="l"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项目汇报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F79D1-9E47-4AFD-B3C0-3361832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47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这套系统把客户开通、机构运营、专业评估、家校协同和监管展示放到同一条业务链路里，让不同角色各用各的入口，但数据能统一沉淀。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8E33B-AC58-4CAF-BFC8-804138D4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8097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解决多系统分散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EB338-1E83-4428-827C-1CED69B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29050"/>
            <a:ext cx="18097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0783D"/>
                </a:solidFill>
              </a:defRPr>
            </a:pPr>
            <a:r>
              <a:rPr sz="1125" b="1">
                <a:solidFill>
                  <a:srgbClr val="F0783D"/>
                </a:solidFill>
              </a:rPr>
              <a:t>提升机构运营效率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B0869-95C9-4363-9D4E-418F0C3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8097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257CE"/>
                </a:solidFill>
              </a:defRPr>
            </a:pPr>
            <a:r>
              <a:rPr sz="1125" b="1">
                <a:solidFill>
                  <a:srgbClr val="7257CE"/>
                </a:solidFill>
              </a:rPr>
              <a:t>PEP-3 评估闭环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DC323-0FFA-4DF1-BA30-E3BC20C9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43400"/>
            <a:ext cx="18097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A06F"/>
                </a:solidFill>
              </a:defRPr>
            </a:pPr>
            <a:r>
              <a:rPr sz="1125" b="1">
                <a:solidFill>
                  <a:srgbClr val="14A06F"/>
                </a:solidFill>
              </a:rPr>
              <a:t>支持监管和家校协同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BE0EF-D832-4951-88AB-2DFBB56A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8396"/>
                </a:solidFill>
              </a:defRPr>
            </a:pPr>
            <a:r>
              <a:rPr sz="1125" b="0">
                <a:solidFill>
                  <a:srgbClr val="778396"/>
                </a:solidFill>
              </a:rPr>
              <a:t>汇报口径：少讲技术，多讲问题、功能、亮点和业务价值。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DB1FC-37CF-4474-8DD8-283FDA0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85800"/>
            <a:ext cx="4953000" cy="2781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0d9af35af434b"/>
          <a:stretch xmlns:a="http://schemas.openxmlformats.org/drawingml/2006/main"/>
        </p:blipFill>
        <p:spPr>
          <a:xfrm xmlns:a="http://schemas.openxmlformats.org/drawingml/2006/main">
            <a:off x="6921500" y="781050"/>
            <a:ext cx="3873500" cy="2324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572BC-C8FA-4C45-AB18-F1D76D54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机构业务首页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E085E-F281-4B9F-B008-3AAA207D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2381250" cy="1657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963714f654942"/>
          <a:stretch xmlns:a="http://schemas.openxmlformats.org/drawingml/2006/main"/>
        </p:blipFill>
        <p:spPr>
          <a:xfrm xmlns:a="http://schemas.openxmlformats.org/drawingml/2006/main">
            <a:off x="6429375" y="3869705"/>
            <a:ext cx="2190750" cy="100453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B091F-8D6E-4787-8002-47ECC68A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48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总控配置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890E4-0ECE-4E97-BC65-5C708BA8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2381250" cy="1657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beffce7634e85"/>
          <a:stretch xmlns:a="http://schemas.openxmlformats.org/drawingml/2006/main"/>
        </p:blipFill>
        <p:spPr>
          <a:xfrm xmlns:a="http://schemas.openxmlformats.org/drawingml/2006/main">
            <a:off x="9144000" y="3771900"/>
            <a:ext cx="2000250" cy="1200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6760F-05DA-4D27-BD20-FF2E1291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48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PEP-3 评估工作台</a:t>
            </a:r>
          </a:p>
        </p:txBody>
      </p:sp>
    </p:spTree>
    <p:extLst>
      <p:ext uri="{BB962C8B-B14F-4D97-AF65-F5344CB8AC3E}">
        <p14:creationId xmlns:p14="http://schemas.microsoft.com/office/powerpoint/2010/main" val="904905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F389A-B45C-4326-A136-839E46BD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项目解决了哪些问题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FA06F-D1AD-4566-AB69-79D69C2E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8396"/>
                </a:solidFill>
              </a:defRPr>
            </a:pPr>
            <a:r>
              <a:rPr sz="1050" b="0">
                <a:solidFill>
                  <a:srgbClr val="778396"/>
                </a:solidFill>
              </a:rPr>
              <a:t>先用业务语言讲清楚：以前痛在哪里，现在项目把哪些事情变简单了。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B90FF-9631-436F-9189-BC0F4E27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75833-635B-40C9-93D9-8A8056F6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3381375" cy="1257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DB86D-3652-4B4F-B82A-A03D38A0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619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A6E0F-DAEE-4B14-B7C7-D57B3990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43075"/>
            <a:ext cx="114300" cy="114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783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FB29B-32FC-4CA5-BB00-6F1004C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09725"/>
            <a:ext cx="2486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客户开通慢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9CE76-184F-4163-9372-00F19F0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14525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44054"/>
                </a:solidFill>
              </a:defRPr>
            </a:pPr>
            <a:r>
              <a:rPr sz="1035" b="0">
                <a:solidFill>
                  <a:srgbClr val="344054"/>
                </a:solidFill>
              </a:rPr>
              <a:t>租户、机构、品牌、权限和登录页集中配置，减少重复搭建。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EF2F0-F484-4E0D-9B2A-4D4C9218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47800"/>
            <a:ext cx="3381375" cy="1257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5718F-4C8D-46E3-8F7D-D8E61A3A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3619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85672-39B3-4D66-BCBD-8D0C91B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43075"/>
            <a:ext cx="114300" cy="114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171F1-F86B-4F1C-A7D4-93AB0BB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09725"/>
            <a:ext cx="2486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机构运营分散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BB78A-CD05-4B36-A142-E93F7312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14525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44054"/>
                </a:solidFill>
              </a:defRPr>
            </a:pPr>
            <a:r>
              <a:rPr sz="1035" b="0">
                <a:solidFill>
                  <a:srgbClr val="344054"/>
                </a:solidFill>
              </a:rPr>
              <a:t>招生、课表、上课、收费、报表统一进后台，少在多张表里来回找。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41102-5D05-478A-9A3B-4868E00A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47800"/>
            <a:ext cx="3381375" cy="1257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7D4DC-47CE-4BEE-89C5-E0F50DE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3619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A3B70-CDB6-4B43-8B1F-AF4B2EF2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43075"/>
            <a:ext cx="114300" cy="114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7257C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36833-E333-4C4B-9D2C-2740D096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09725"/>
            <a:ext cx="2486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评估依赖纸笔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CFA2C-D6E5-478A-9DD1-7E2D7873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14525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44054"/>
                </a:solidFill>
              </a:defRPr>
            </a:pPr>
            <a:r>
              <a:rPr sz="1035" b="0">
                <a:solidFill>
                  <a:srgbClr val="344054"/>
                </a:solidFill>
              </a:rPr>
              <a:t>Pad 现场录入评估过程，报告和计划能在线沉淀。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DD66C-743D-4940-A088-DA1EA962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3381375" cy="1257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A1FBF-4AA2-432B-806E-D76C029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619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17C74-AA24-436E-879C-47113F84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19475"/>
            <a:ext cx="114300" cy="114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4A0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4F130-6B2C-4AC6-8098-F5A1D45E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86125"/>
            <a:ext cx="2486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家长反馈零散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520A0-6759-4BD2-9050-11095714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90925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44054"/>
                </a:solidFill>
              </a:defRPr>
            </a:pPr>
            <a:r>
              <a:rPr sz="1035" b="0">
                <a:solidFill>
                  <a:srgbClr val="344054"/>
                </a:solidFill>
              </a:rPr>
              <a:t>课表、请假、康复记录和问卷回到系统，方便长期追踪。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B6A6E-1DD8-42A9-863A-0C9716E7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24200"/>
            <a:ext cx="3381375" cy="1257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8F349-7F30-4CB7-8A4F-CD15A001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5650"/>
            <a:ext cx="3619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5F8F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23B73A-A021-4C2F-8C9F-982155A7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19475"/>
            <a:ext cx="114300" cy="114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27FED-0EC1-4430-ABE8-11A9A55E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86125"/>
            <a:ext cx="2486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监管统计滞后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8FF5D-B829-43E3-BB58-7B464330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90925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44054"/>
                </a:solidFill>
              </a:defRPr>
            </a:pPr>
            <a:r>
              <a:rPr sz="1035" b="0">
                <a:solidFill>
                  <a:srgbClr val="344054"/>
                </a:solidFill>
              </a:rPr>
              <a:t>政府端和大屏看汇总数据，减少人工汇报和反复统计。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BB1523-9856-4342-BBE7-839699C1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3381375" cy="1257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2BDAC7-2E55-406E-B589-829018AE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3619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9E3A96-FF71-4856-A257-CD3F142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19475"/>
            <a:ext cx="114300" cy="114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5D67CD-196F-48B4-B2F6-2B6226F0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86125"/>
            <a:ext cx="2486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客户差异难管理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4F0481-3EAD-4AFB-BBB3-2182C734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90925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44054"/>
                </a:solidFill>
              </a:defRPr>
            </a:pPr>
            <a:r>
              <a:rPr sz="1035" b="0">
                <a:solidFill>
                  <a:srgbClr val="344054"/>
                </a:solidFill>
              </a:rPr>
              <a:t>品牌、功能、账号、存储等做成配置，不靠临时改代码。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1980FE-7320-4B29-A17D-687FF022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591800" cy="666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CDD90-0ED8-49AF-9D49-D9115616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A06F"/>
                </a:solidFill>
              </a:defRPr>
            </a:pPr>
            <a:r>
              <a:rPr sz="1350" b="1">
                <a:solidFill>
                  <a:srgbClr val="14A06F"/>
                </a:solidFill>
              </a:rPr>
              <a:t>一句话：这个项目不是单个后台，而是在把“开客户、管机构、做评估、出结果、看监管”这条链路做成标准化平台。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A87642-4B07-4F18-AB7A-CDD22EBD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96"/>
                </a:solidFill>
              </a:defRPr>
            </a:pPr>
            <a:r>
              <a:rPr sz="825" b="0">
                <a:solidFill>
                  <a:srgbClr val="778396"/>
                </a:solidFill>
              </a:rPr>
              <a:t>教育康复多端业务平台项目汇报 · 2/9</a:t>
            </a:r>
          </a:p>
        </p:txBody>
      </p:sp>
    </p:spTree>
    <p:extLst>
      <p:ext uri="{BB962C8B-B14F-4D97-AF65-F5344CB8AC3E}">
        <p14:creationId xmlns:p14="http://schemas.microsoft.com/office/powerpoint/2010/main" val="1801805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CB7DE-6289-4652-AD41-689B298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项目板块总览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CC6FF-3C74-4A72-BE90-E785985C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8396"/>
                </a:solidFill>
              </a:defRPr>
            </a:pPr>
            <a:r>
              <a:rPr sz="1050" b="0">
                <a:solidFill>
                  <a:srgbClr val="778396"/>
                </a:solidFill>
              </a:rPr>
              <a:t>每个板块服务不同角色，但围绕同一条业务链路协同。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0105E-C53A-42ED-BBD6-213A278B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6D94F-EF6F-4499-8D1A-30DBE78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057400" cy="3714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B8739-7A72-499A-9241-4FC06C04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41910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1F26D-C92B-43A5-981E-B73749B9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783D"/>
                </a:solidFill>
              </a:defRPr>
            </a:pPr>
            <a:r>
              <a:rPr sz="1500" b="1">
                <a:solidFill>
                  <a:srgbClr val="F0783D"/>
                </a:solidFill>
              </a:rPr>
              <a:t>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6631F-C285-41D0-AD76-F7C08E10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90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总控后台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BD8EC-1127-4CF8-8607-52AABD69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78396"/>
                </a:solidFill>
              </a:defRPr>
            </a:pPr>
            <a:r>
              <a:rPr sz="1013" b="0">
                <a:solidFill>
                  <a:srgbClr val="778396"/>
                </a:solidFill>
              </a:rPr>
              <a:t>对象：平台运营 / 客户成功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523EC-83FE-4841-A824-F9FB833E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0783D"/>
                </a:solidFill>
              </a:defRPr>
            </a:pPr>
            <a:r>
              <a:rPr sz="1088" b="1">
                <a:solidFill>
                  <a:srgbClr val="F0783D"/>
                </a:solidFill>
              </a:rPr>
              <a:t>主要功能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49192-DB52-4AF2-98E7-8BB26612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开通租户、机构、账号、权限、登录页、品牌、版本和基础配置。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84B08-3A0A-4233-9C86-B0B0B720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0783D"/>
                </a:solidFill>
              </a:defRPr>
            </a:pPr>
            <a:r>
              <a:rPr sz="1088" b="1">
                <a:solidFill>
                  <a:srgbClr val="F0783D"/>
                </a:solidFill>
              </a:rPr>
              <a:t>解决痛点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452DF-2E8B-4E2F-AF32-217BB0F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把客户交付从人工搭建变成后台配置，后续复制更快。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E751E-52AD-4440-B8BF-46434706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28750"/>
            <a:ext cx="2057400" cy="3714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0BD2F-3673-44F8-A7DD-18C57DDF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81150"/>
            <a:ext cx="41910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623A6-4F19-44AB-B57E-1F16298A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002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483AF-866C-4E4F-A84F-4B46F9D7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90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机构后台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1E4C5-FAB0-4BF0-A1F8-14223C89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78396"/>
                </a:solidFill>
              </a:defRPr>
            </a:pPr>
            <a:r>
              <a:rPr sz="1013" b="0">
                <a:solidFill>
                  <a:srgbClr val="778396"/>
                </a:solidFill>
              </a:rPr>
              <a:t>对象：校区 / 老师 / 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7C71F-57AF-4D06-9A32-B5C8BFD8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563EB"/>
                </a:solidFill>
              </a:defRPr>
            </a:pPr>
            <a:r>
              <a:rPr sz="1088" b="1">
                <a:solidFill>
                  <a:srgbClr val="2563EB"/>
                </a:solidFill>
              </a:rPr>
              <a:t>主要功能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074E3-CA01-46AC-9477-534F6DCC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9875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招生、学员、课程、排课、点名、订单、审批和数据看板。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FA481-1DC3-4E74-A1B3-B41D8341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719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563EB"/>
                </a:solidFill>
              </a:defRPr>
            </a:pPr>
            <a:r>
              <a:rPr sz="1088" b="1">
                <a:solidFill>
                  <a:srgbClr val="2563EB"/>
                </a:solidFill>
              </a:rPr>
              <a:t>解决痛点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7DBF1-AF22-423D-8750-7156420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29075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把日常经营放到一套后台，减少多系统、多表格管理。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DBC2E-F6AC-44D4-9951-26B4192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057400" cy="3714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8468AB-C74B-4C5F-B653-A97F31E3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81150"/>
            <a:ext cx="41910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A6598B-F85C-4CFC-BC1E-5CAF7403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02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257CE"/>
                </a:solidFill>
              </a:defRPr>
            </a:pPr>
            <a:r>
              <a:rPr sz="1500" b="1">
                <a:solidFill>
                  <a:srgbClr val="7257CE"/>
                </a:solidFill>
              </a:rPr>
              <a:t>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C4A0C-C0FF-4EFA-A0A2-94BF27A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90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评估 Pad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5EF72-15A1-4946-8909-A764BAAA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78396"/>
                </a:solidFill>
              </a:defRPr>
            </a:pPr>
            <a:r>
              <a:rPr sz="1013" b="0">
                <a:solidFill>
                  <a:srgbClr val="778396"/>
                </a:solidFill>
              </a:rPr>
              <a:t>对象：评估老师 / 测试员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E16413-E4CE-405E-98F4-0E5B21DD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7257CE"/>
                </a:solidFill>
              </a:defRPr>
            </a:pPr>
            <a:r>
              <a:rPr sz="1088" b="1">
                <a:solidFill>
                  <a:srgbClr val="7257CE"/>
                </a:solidFill>
              </a:rPr>
              <a:t>主要功能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1177B-1664-4CB2-BFAE-8BA88381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9875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选择量表、现场录分、进度保存、报告列表和评估记录。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2BBA1B-ADF1-4768-8609-4E7D127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719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7257CE"/>
                </a:solidFill>
              </a:defRPr>
            </a:pPr>
            <a:r>
              <a:rPr sz="1088" b="1">
                <a:solidFill>
                  <a:srgbClr val="7257CE"/>
                </a:solidFill>
              </a:rPr>
              <a:t>解决痛点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21F1BB-1D27-4377-A06C-77814F7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29075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减少纸笔记录和二次录入，评估过程更标准。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D4169-1122-4962-B973-732CF899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2057400" cy="3714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04F75-B586-4B9A-9D4C-5570DA08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81150"/>
            <a:ext cx="41910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9D44C-1599-4205-935F-E0D8B145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A06F"/>
                </a:solidFill>
              </a:defRPr>
            </a:pPr>
            <a:r>
              <a:rPr sz="1500" b="1">
                <a:solidFill>
                  <a:srgbClr val="14A06F"/>
                </a:solidFill>
              </a:rPr>
              <a:t>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CEC92A-2A47-46C2-A5F4-ED1498E0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90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家长端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E31D30-C1ED-43C8-9315-C3E658DA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78396"/>
                </a:solidFill>
              </a:defRPr>
            </a:pPr>
            <a:r>
              <a:rPr sz="1013" b="0">
                <a:solidFill>
                  <a:srgbClr val="778396"/>
                </a:solidFill>
              </a:rPr>
              <a:t>对象：家长 / 照顾者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E9208C-D99E-4FEF-B388-E504FA4D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4A06F"/>
                </a:solidFill>
              </a:defRPr>
            </a:pPr>
            <a:r>
              <a:rPr sz="1088" b="1">
                <a:solidFill>
                  <a:srgbClr val="14A06F"/>
                </a:solidFill>
              </a:rPr>
              <a:t>主要功能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27E4AC-3595-45BD-A0FE-923F5604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09875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绑定学员、看课表、请假、查看记录、提交问卷。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5E3A99-C280-49C3-B3A3-983411CB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719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4A06F"/>
                </a:solidFill>
              </a:defRPr>
            </a:pPr>
            <a:r>
              <a:rPr sz="1088" b="1">
                <a:solidFill>
                  <a:srgbClr val="14A06F"/>
                </a:solidFill>
              </a:rPr>
              <a:t>解决痛点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8BBC60-4502-4C6E-A771-370536C1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29075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让家校沟通和家长反馈能沉淀到系统。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F4FA76-559D-4DA9-920C-BD0B3B63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28750"/>
            <a:ext cx="2057400" cy="3714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BE17FE-A846-429C-859D-FA94E8E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81150"/>
            <a:ext cx="41910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5F8F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B93BCE-D5EB-44CB-A876-C422561C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002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91B2"/>
                </a:solidFill>
              </a:defRPr>
            </a:pPr>
            <a:r>
              <a:rPr sz="1500" b="1">
                <a:solidFill>
                  <a:srgbClr val="0891B2"/>
                </a:solidFill>
              </a:rPr>
              <a:t>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EACCB1-745C-4F88-9841-E4051374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590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政府端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0CFFE6-BE33-4F45-9C54-FFFA60E4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8822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78396"/>
                </a:solidFill>
              </a:defRPr>
            </a:pPr>
            <a:r>
              <a:rPr sz="1013" b="0">
                <a:solidFill>
                  <a:srgbClr val="778396"/>
                </a:solidFill>
              </a:rPr>
              <a:t>对象：监管部门 / 区域管理员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FBA041-113D-4243-ACBF-591ED990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52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91B2"/>
                </a:solidFill>
              </a:defRPr>
            </a:pPr>
            <a:r>
              <a:rPr sz="1088" b="1">
                <a:solidFill>
                  <a:srgbClr val="0891B2"/>
                </a:solidFill>
              </a:rPr>
              <a:t>主要功能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E9B11C-C190-46E8-9A9B-677F4A5B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9875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机构台账、监管账号、区域汇总、数据大屏和督导任务。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5BDDE1-5110-44D5-8479-4C281F95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719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891B2"/>
                </a:solidFill>
              </a:defRPr>
            </a:pPr>
            <a:r>
              <a:rPr sz="1088" b="1">
                <a:solidFill>
                  <a:srgbClr val="0891B2"/>
                </a:solidFill>
              </a:rPr>
              <a:t>解决痛点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7D41A8-9F6D-4D55-855C-0AA29507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29075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把人工汇总变成线上可查、可展示、可追踪。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590EB5-07F0-4122-8778-FF02578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86400"/>
            <a:ext cx="986790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1211FB-11B8-438E-82EB-A640E9C7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783D"/>
                </a:solidFill>
              </a:defRPr>
            </a:pPr>
            <a:r>
              <a:rPr sz="1200" b="1">
                <a:solidFill>
                  <a:srgbClr val="F0783D"/>
                </a:solidFill>
              </a:rPr>
              <a:t>汇报时可以按这五个板块讲：谁在用、用来做什么、解决什么痛点。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841946-B30A-47F6-A633-61A58DD2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96"/>
                </a:solidFill>
              </a:defRPr>
            </a:pPr>
            <a:r>
              <a:rPr sz="825" b="0">
                <a:solidFill>
                  <a:srgbClr val="778396"/>
                </a:solidFill>
              </a:rPr>
              <a:t>教育康复多端业务平台项目汇报 · 3/9</a:t>
            </a:r>
          </a:p>
        </p:txBody>
      </p:sp>
    </p:spTree>
    <p:extLst>
      <p:ext uri="{BB962C8B-B14F-4D97-AF65-F5344CB8AC3E}">
        <p14:creationId xmlns:p14="http://schemas.microsoft.com/office/powerpoint/2010/main" val="1319276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20D1-CFD6-4BFC-AAF3-FA3DA131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平台总控后台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F162C-F20D-411C-B3A5-AE07BBAC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8396"/>
                </a:solidFill>
              </a:defRPr>
            </a:pPr>
            <a:r>
              <a:rPr sz="1050" b="0">
                <a:solidFill>
                  <a:srgbClr val="778396"/>
                </a:solidFill>
              </a:rPr>
              <a:t>核心价值：客户开通、品牌差异、账号权限和基础配置统一管理。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5097D-C0E8-4BC7-87DC-52E8CE8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055CE-A1DB-4EC9-AA88-3C51406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143250" cy="4038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F0134-854F-4C02-BCD8-E1E71697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838200" cy="285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783D"/>
                </a:solidFill>
              </a:defRPr>
            </a:pPr>
            <a:r>
              <a:rPr sz="975" b="1">
                <a:solidFill>
                  <a:srgbClr val="F0783D"/>
                </a:solidFill>
              </a:rPr>
              <a:t>板块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4CD55-6BFD-4488-AF4F-0C4C3AF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619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总控后台解决的是“客户怎么快速开起来、怎么差异化管理”的问题。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21358-8B95-4237-A4D9-7A76D7F3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783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EFDAB-4E83-4F04-9FF5-2E94B33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给不同客户配置不同品牌和登录页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4AA22-7AF1-4222-ADB7-8C63C67E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26158-259C-411B-B01A-BE7F5555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开通机构、管理员和监管账号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8AABF-759F-4A21-87F0-FC252FBD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7257C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444EF-52B5-42F3-8E5A-2E82A2E5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统一设置权限、版本、默认角色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E8236-1AAD-4D2B-AF25-9F8A9CB0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4A0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48565-AD2C-4878-8D9C-D7221CBF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配置上传存储、字典和基础规则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6AD90-0D91-4013-8207-D140F77E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476500" cy="342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FF924-D774-4CA4-950F-0BFB1E6B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1967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0783D"/>
                </a:solidFill>
              </a:defRPr>
            </a:pPr>
            <a:r>
              <a:rPr sz="1013" b="1">
                <a:solidFill>
                  <a:srgbClr val="F0783D"/>
                </a:solidFill>
              </a:rPr>
              <a:t>痛点：不再为每家客户单独改一套系统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18729-0127-4D61-8E3D-5DAAB60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7429500" cy="2362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0611e93ca44f9"/>
          <a:stretch xmlns:a="http://schemas.openxmlformats.org/drawingml/2006/main"/>
        </p:blipFill>
        <p:spPr>
          <a:xfrm xmlns:a="http://schemas.openxmlformats.org/drawingml/2006/main">
            <a:off x="5637989" y="1504950"/>
            <a:ext cx="4154521" cy="1905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315A1-C0BA-40FF-BFEE-00635449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86150"/>
            <a:ext cx="716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登录页配置：品牌、主题、文案和模板可配置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89AEC-92FC-4FFD-A0CB-57A6DC12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238125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f56b805a14517"/>
          <a:stretch xmlns:a="http://schemas.openxmlformats.org/drawingml/2006/main"/>
        </p:blipFill>
        <p:spPr>
          <a:xfrm xmlns:a="http://schemas.openxmlformats.org/drawingml/2006/main">
            <a:off x="4191596" y="4076700"/>
            <a:ext cx="1999058" cy="9334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64A95-366C-472E-A7EA-FA9C5235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863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机构独立登录页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8A40A-0E10-4BC3-B93B-F35ACF12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81450"/>
            <a:ext cx="238125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f5c692f744679"/>
          <a:stretch xmlns:a="http://schemas.openxmlformats.org/drawingml/2006/main"/>
        </p:blipFill>
        <p:spPr>
          <a:xfrm xmlns:a="http://schemas.openxmlformats.org/drawingml/2006/main">
            <a:off x="6703778" y="4076700"/>
            <a:ext cx="2022944" cy="9334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B45082-88F6-4AEC-A358-CF97B53E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863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政府账号与监管范围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12195-D041-45C1-B499-AF469EB3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38125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e471d1fc645cb"/>
          <a:stretch xmlns:a="http://schemas.openxmlformats.org/drawingml/2006/main"/>
        </p:blipFill>
        <p:spPr>
          <a:xfrm xmlns:a="http://schemas.openxmlformats.org/drawingml/2006/main">
            <a:off x="9231753" y="4076700"/>
            <a:ext cx="2015244" cy="933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44C44-0866-43DD-AA27-64EB1530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863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云存储配置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6EC3B7-78FD-40BB-AC21-9EDF9D15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96"/>
                </a:solidFill>
              </a:defRPr>
            </a:pPr>
            <a:r>
              <a:rPr sz="825" b="0">
                <a:solidFill>
                  <a:srgbClr val="778396"/>
                </a:solidFill>
              </a:rPr>
              <a:t>教育康复多端业务平台项目汇报 · 4/9</a:t>
            </a:r>
          </a:p>
        </p:txBody>
      </p:sp>
    </p:spTree>
    <p:extLst>
      <p:ext uri="{BB962C8B-B14F-4D97-AF65-F5344CB8AC3E}">
        <p14:creationId xmlns:p14="http://schemas.microsoft.com/office/powerpoint/2010/main" val="1192974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E1D07-52C4-4E52-BBCC-E0925D33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机构运营后台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22D71-BF30-4625-8BCE-0776420C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8396"/>
                </a:solidFill>
              </a:defRPr>
            </a:pPr>
            <a:r>
              <a:rPr sz="1050" b="0">
                <a:solidFill>
                  <a:srgbClr val="778396"/>
                </a:solidFill>
              </a:rPr>
              <a:t>核心价值：把校区每天要做的事情放到一套后台里，减少重复录入和信息割裂。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0B9BA-76CD-4FAF-ABFC-B501BCB2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273F9-55AF-4336-810C-4181B72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3381375" cy="4000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0F974-B8AF-4AB4-A539-B9119E75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838200" cy="285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板块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6EA76-EC62-402C-BC15-46CD5DAB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机构端主要服务校区管理者、教务老师和财务人员。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3319B-C994-4B7B-BEBD-FEF2596A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055D6-336F-4124-995B-CF1A536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首页看待办、课程、学员和经营数据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A13F2-4D26-4B2B-AEF5-0E907B91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4A0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4031B-7F0C-40B1-B8EA-2AAF4A70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课表排课、班级安排、老师安排集中管理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0B87A-5F6C-4842-9718-F8B5AA70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7257C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E3B82-8ED5-4AFD-8D60-93E36239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上课记录、康复记录、评估结果可追踪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5F29C-2705-49AD-92E7-B4261F92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783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5A8AE-B9EF-4EF7-B614-48FC2462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订单、欠费、报表减少线下对账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1819E-6F5C-4CB3-8D9E-6F76017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95850"/>
            <a:ext cx="264795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EE378-B572-49B3-8ECE-1FD2D30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240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痛点：老师、教务、财务不用各管各的数据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45247-D1E5-46FF-9387-4CCA2F6E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238500" cy="2133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dee3f5e7c4957"/>
          <a:stretch xmlns:a="http://schemas.openxmlformats.org/drawingml/2006/main"/>
        </p:blipFill>
        <p:spPr>
          <a:xfrm xmlns:a="http://schemas.openxmlformats.org/drawingml/2006/main">
            <a:off x="4527550" y="1524000"/>
            <a:ext cx="2794000" cy="16764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85F4E-78F7-4570-95C9-E4A3146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机构首页：日常经营概览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86916-EF23-4D28-9CDE-E86490B8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238500" cy="2133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76f74921e4d79"/>
          <a:stretch xmlns:a="http://schemas.openxmlformats.org/drawingml/2006/main"/>
        </p:blipFill>
        <p:spPr>
          <a:xfrm xmlns:a="http://schemas.openxmlformats.org/drawingml/2006/main">
            <a:off x="8032750" y="1524000"/>
            <a:ext cx="2794000" cy="16764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3BDD4-359D-4836-8929-51793369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智慧课表：排课与课时安排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CF6E3-7092-4990-89FA-C9C08C8A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6743700" cy="1638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d96f16b5a4a4c"/>
          <a:stretch xmlns:a="http://schemas.openxmlformats.org/drawingml/2006/main"/>
        </p:blipFill>
        <p:spPr>
          <a:xfrm xmlns:a="http://schemas.openxmlformats.org/drawingml/2006/main">
            <a:off x="6692900" y="3886200"/>
            <a:ext cx="1968500" cy="11811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1DE78-4721-4945-B5BA-9700825B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435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课表板：班级、一对一、老师和时间统一展示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BC602-8D1F-48AC-AB3C-DF53D424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96"/>
                </a:solidFill>
              </a:defRPr>
            </a:pPr>
            <a:r>
              <a:rPr sz="825" b="0">
                <a:solidFill>
                  <a:srgbClr val="778396"/>
                </a:solidFill>
              </a:rPr>
              <a:t>教育康复多端业务平台项目汇报 · 5/9</a:t>
            </a:r>
          </a:p>
        </p:txBody>
      </p:sp>
    </p:spTree>
    <p:extLst>
      <p:ext uri="{BB962C8B-B14F-4D97-AF65-F5344CB8AC3E}">
        <p14:creationId xmlns:p14="http://schemas.microsoft.com/office/powerpoint/2010/main" val="72665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E6950-473B-4B3F-B780-FC260F39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PEP-3 评估 Pad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D808E-2E60-4BFD-AFAE-8BF758C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8396"/>
                </a:solidFill>
              </a:defRPr>
            </a:pPr>
            <a:r>
              <a:rPr sz="1050" b="0">
                <a:solidFill>
                  <a:srgbClr val="778396"/>
                </a:solidFill>
              </a:rPr>
              <a:t>核心价值：把专业评估从纸笔流程变成可记录、可追踪、可出报告的线上流程。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0F0CE-5263-4BBB-A563-6595D391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29C26-27CD-4A3B-8106-F3DDE24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0955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B2788-A690-46E2-AE2B-D48BF813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23850" cy="3238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783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0B1EE-35DA-4F3E-BB29-0D9C686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81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783D"/>
                </a:solidFill>
              </a:defRPr>
            </a:pPr>
            <a:r>
              <a:rPr sz="1425" b="1">
                <a:solidFill>
                  <a:srgbClr val="F0783D"/>
                </a:solidFill>
              </a:rPr>
              <a:t>选量表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6C439-16F2-4D8C-857A-DEC245D8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85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从量表库进入评估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573B-C409-4365-A45E-ACE8E957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28750"/>
            <a:ext cx="20955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44AE7-FB18-47DE-8CEC-611E8144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38300"/>
            <a:ext cx="323850" cy="3238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7257C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209E0-0A9A-4E10-8682-42C206DD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257CE"/>
                </a:solidFill>
              </a:defRPr>
            </a:pPr>
            <a:r>
              <a:rPr sz="1425" b="1">
                <a:solidFill>
                  <a:srgbClr val="7257CE"/>
                </a:solidFill>
              </a:rPr>
              <a:t>现场录分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49FB4-9161-4CC7-9614-1D480D7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按题目记录表现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2B586-D33D-42A4-979F-F5202B89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20955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06F8E-2D21-44E8-B4F9-C109B6F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323850" cy="3238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4A0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AC86F-5CB8-4A79-AE52-C2944E3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81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A06F"/>
                </a:solidFill>
              </a:defRPr>
            </a:pPr>
            <a:r>
              <a:rPr sz="1425" b="1">
                <a:solidFill>
                  <a:srgbClr val="14A06F"/>
                </a:solidFill>
              </a:rPr>
              <a:t>保存进度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212B9-11B3-47FC-851F-70F72D8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85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支持草稿和继续评估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F1F6A-5FED-4AF4-A1BF-1DF780F5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0955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63B5D-9AD9-467B-8CCB-F7B44F71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323850" cy="3238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69941-6F02-48A0-B161-5269BE05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81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出报告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C5655-258C-4485-9299-7128881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85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</a:defRPr>
            </a:pPr>
            <a:r>
              <a:rPr sz="990" b="0">
                <a:solidFill>
                  <a:srgbClr val="344054"/>
                </a:solidFill>
              </a:rPr>
              <a:t>沉淀为报告和计划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DE487-6100-48CD-BB89-C3920CF5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3333750" cy="2381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84ea533df4ec5"/>
          <a:stretch xmlns:a="http://schemas.openxmlformats.org/drawingml/2006/main"/>
        </p:blipFill>
        <p:spPr>
          <a:xfrm xmlns:a="http://schemas.openxmlformats.org/drawingml/2006/main">
            <a:off x="666750" y="2819400"/>
            <a:ext cx="3143250" cy="18859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7064D-4AEB-4BD9-A19D-83BB166E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量表库：从评估任务进入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76EAB-8722-4DFC-8261-EAD66DAA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05100"/>
            <a:ext cx="3333750" cy="2381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8b06bd1bb4911"/>
          <a:stretch xmlns:a="http://schemas.openxmlformats.org/drawingml/2006/main"/>
        </p:blipFill>
        <p:spPr>
          <a:xfrm xmlns:a="http://schemas.openxmlformats.org/drawingml/2006/main">
            <a:off x="4524375" y="2819400"/>
            <a:ext cx="3143250" cy="18859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DB0BC-43A6-4C1B-9CF4-00387F1A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0060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评估工作台：题目、进度、录分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2B779-D0B5-48FA-BAC5-BE2A04A0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3333750" cy="2381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b8ef6772f4f70"/>
          <a:stretch xmlns:a="http://schemas.openxmlformats.org/drawingml/2006/main"/>
        </p:blipFill>
        <p:spPr>
          <a:xfrm xmlns:a="http://schemas.openxmlformats.org/drawingml/2006/main">
            <a:off x="8382000" y="2819400"/>
            <a:ext cx="3143250" cy="18859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ECBDFB-6DAB-4F07-B940-DB91FEE2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0060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报告列表：评估结果集中管理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7E803-9BA1-40A5-B1AB-8F33A59A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EDBAF-308F-4E51-ACD5-9FAAA7E3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257CE"/>
                </a:solidFill>
              </a:defRPr>
            </a:pPr>
            <a:r>
              <a:rPr sz="1200" b="1">
                <a:solidFill>
                  <a:srgbClr val="7257CE"/>
                </a:solidFill>
              </a:rPr>
              <a:t>亮点：PEP-3 的专业流程已经被做进产品，从“做评估”延伸到“看结果、出报告、做计划”。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762B39-6AA5-41BD-BA23-44A39172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96"/>
                </a:solidFill>
              </a:defRPr>
            </a:pPr>
            <a:r>
              <a:rPr sz="825" b="0">
                <a:solidFill>
                  <a:srgbClr val="778396"/>
                </a:solidFill>
              </a:rPr>
              <a:t>教育康复多端业务平台项目汇报 · 6/9</a:t>
            </a:r>
          </a:p>
        </p:txBody>
      </p:sp>
    </p:spTree>
    <p:extLst>
      <p:ext uri="{BB962C8B-B14F-4D97-AF65-F5344CB8AC3E}">
        <p14:creationId xmlns:p14="http://schemas.microsoft.com/office/powerpoint/2010/main" val="1751542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0DA3C-BE03-40BA-9256-8F7F6A92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结果沉淀与共享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9904B-4FD5-4D74-9538-F74FC99E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8396"/>
                </a:solidFill>
              </a:defRPr>
            </a:pPr>
            <a:r>
              <a:rPr sz="1050" b="0">
                <a:solidFill>
                  <a:srgbClr val="778396"/>
                </a:solidFill>
              </a:rPr>
              <a:t>评估结果不只是一次记录，还能继续服务教学计划、家长沟通和监管汇总。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3AC0B-5F87-48A0-A2B6-18E7E55E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CEB66-29D6-42F5-A05A-9A53ED25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542925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b6a8860a648e4"/>
          <a:stretch xmlns:a="http://schemas.openxmlformats.org/drawingml/2006/main"/>
        </p:blipFill>
        <p:spPr>
          <a:xfrm xmlns:a="http://schemas.openxmlformats.org/drawingml/2006/main">
            <a:off x="666750" y="1633985"/>
            <a:ext cx="5238750" cy="24279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03499-149E-461B-B3CC-CD4F6CB1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516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IEP 计划：把评估结果转成教学 / 康复目标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6CC2C-BB48-4806-98F1-998B5880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09700"/>
            <a:ext cx="5238750" cy="2286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144e974084512"/>
          <a:stretch xmlns:a="http://schemas.openxmlformats.org/drawingml/2006/main"/>
        </p:blipFill>
        <p:spPr>
          <a:xfrm xmlns:a="http://schemas.openxmlformats.org/drawingml/2006/main">
            <a:off x="6881632" y="1504950"/>
            <a:ext cx="4143737" cy="1828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162F2-063F-49E6-8ACD-58D827BD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9950"/>
            <a:ext cx="497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778396"/>
                </a:solidFill>
              </a:defRPr>
            </a:pPr>
            <a:r>
              <a:rPr sz="938" b="0">
                <a:solidFill>
                  <a:srgbClr val="778396"/>
                </a:solidFill>
              </a:rPr>
              <a:t>计划详情：目标、周期、人员和执行内容可沉淀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76358-D865-41E9-A3D6-E94957E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1581150" cy="1181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7810E-ABA9-44D7-A781-A2259FA5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719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机构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1309E-28CB-45C0-9F1B-BB03EC87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148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3790"/>
          </a:bodyPr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44054"/>
                </a:solidFill>
              </a:defRPr>
            </a:pPr>
            <a:r>
              <a:rPr sz="945" b="0">
                <a:solidFill>
                  <a:srgbClr val="344054"/>
                </a:solidFill>
              </a:rPr>
              <a:t>老师可以按计划安排训练、复盘进展，减少结果只停留在报告里的问题。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1DB16-7E9D-456C-8013-F6B999F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00500"/>
            <a:ext cx="1581150" cy="1181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1B4A-D8B1-4173-8A3A-46D4710D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A06F"/>
                </a:solidFill>
              </a:defRPr>
            </a:pPr>
            <a:r>
              <a:rPr sz="1500" b="1">
                <a:solidFill>
                  <a:srgbClr val="14A06F"/>
                </a:solidFill>
              </a:rPr>
              <a:t>家长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6BAF0-52AA-49E0-AEDF-984C1035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44054"/>
                </a:solidFill>
              </a:defRPr>
            </a:pPr>
            <a:r>
              <a:rPr sz="945" b="0">
                <a:solidFill>
                  <a:srgbClr val="344054"/>
                </a:solidFill>
              </a:rPr>
              <a:t>家长端可以查看课表、记录、问卷和阶段结果，让沟通有依据。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33863-2A94-4B8A-9CA9-ABD2236D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000500"/>
            <a:ext cx="1581150" cy="1181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5F8F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E21B8-1B38-4785-975F-9B02B36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1719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91B2"/>
                </a:solidFill>
              </a:defRPr>
            </a:pPr>
            <a:r>
              <a:rPr sz="1500" b="1">
                <a:solidFill>
                  <a:srgbClr val="0891B2"/>
                </a:solidFill>
              </a:rPr>
              <a:t>监管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F7EB1-EAE2-4BF0-A0EF-271B8FAB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5148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44054"/>
                </a:solidFill>
              </a:defRPr>
            </a:pPr>
            <a:r>
              <a:rPr sz="945" b="0">
                <a:solidFill>
                  <a:srgbClr val="344054"/>
                </a:solidFill>
              </a:rPr>
              <a:t>政府端可以看机构、学员、服务和汇总指标，减少线下统计。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9D973-8926-49DB-BCBC-F4DF3A20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485775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226E5-C3B6-49B0-B5F6-472A540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436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A06F"/>
                </a:solidFill>
              </a:defRPr>
            </a:pPr>
            <a:r>
              <a:rPr sz="1200" b="1">
                <a:solidFill>
                  <a:srgbClr val="14A06F"/>
                </a:solidFill>
              </a:rPr>
              <a:t>痛点：服务结果可以被持续使用，不再是做完一次评估就结束。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F2644-B902-4EF3-8EB4-8CCCF84F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96"/>
                </a:solidFill>
              </a:defRPr>
            </a:pPr>
            <a:r>
              <a:rPr sz="825" b="0">
                <a:solidFill>
                  <a:srgbClr val="778396"/>
                </a:solidFill>
              </a:rPr>
              <a:t>教育康复多端业务平台项目汇报 · 7/9</a:t>
            </a:r>
          </a:p>
        </p:txBody>
      </p:sp>
    </p:spTree>
    <p:extLst>
      <p:ext uri="{BB962C8B-B14F-4D97-AF65-F5344CB8AC3E}">
        <p14:creationId xmlns:p14="http://schemas.microsoft.com/office/powerpoint/2010/main" val="193837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CE5DC-E412-40E3-8861-39F2C82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项目亮点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234BE-FF11-40C6-A538-FE824EC9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8396"/>
                </a:solidFill>
              </a:defRPr>
            </a:pPr>
            <a:r>
              <a:rPr sz="1050" b="0">
                <a:solidFill>
                  <a:srgbClr val="778396"/>
                </a:solidFill>
              </a:rPr>
              <a:t>领导汇报时可以抓住这四个亮点，避免陷入技术细节。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0DA85-7921-45DD-B2EF-2694582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9F309-2D4E-417C-B285-13D35CFF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95300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1E726-7638-4BA0-8F47-7C0D758D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571500" cy="571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E72A4-3641-48AA-8716-C1F813F1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0783D"/>
                </a:solidFill>
              </a:defRPr>
            </a:pPr>
            <a:r>
              <a:rPr sz="1575" b="1">
                <a:solidFill>
                  <a:srgbClr val="F0783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21E96-A0D6-4990-856C-5AE38A5F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907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配置化交付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8F648-6682-4226-B56A-3EE04319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344054"/>
                </a:solidFill>
              </a:defRPr>
            </a:pPr>
            <a:r>
              <a:rPr sz="1140" b="0">
                <a:solidFill>
                  <a:srgbClr val="344054"/>
                </a:solidFill>
              </a:rPr>
              <a:t>客户品牌、登录页、权限、版本、存储等都能配置，适合多客户复制。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151DF-4B89-40F1-B2B9-810A501E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95300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EF496-1173-4DDC-AEE2-0D967057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571500" cy="571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72C77-AE47-483B-88C8-4FBB2B6A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3F7CA-FB41-4B09-A5C3-BCAD3D2E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907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业务闭环完整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879D0-E894-4A51-8F73-529ED340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907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344054"/>
                </a:solidFill>
              </a:defRPr>
            </a:pPr>
            <a:r>
              <a:rPr sz="1140" b="0">
                <a:solidFill>
                  <a:srgbClr val="344054"/>
                </a:solidFill>
              </a:rPr>
              <a:t>从客户开通、机构运营、排课上课，到评估报告和 IEP 计划，链路连起来了。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A28CE-73F6-4F79-8FA2-2D93B9C2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95300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39565-055D-48B2-A226-1AC9A364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571500" cy="571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81A6D-8CD8-4C9D-93AA-8349D505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257CE"/>
                </a:solidFill>
              </a:defRPr>
            </a:pPr>
            <a:r>
              <a:rPr sz="1575" b="1">
                <a:solidFill>
                  <a:srgbClr val="7257CE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CB37B-E61A-4477-8879-A518C43D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004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专业评估数字化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0982D-23AC-4881-9E8F-293E3953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344054"/>
                </a:solidFill>
              </a:defRPr>
            </a:pPr>
            <a:r>
              <a:rPr sz="1140" b="0">
                <a:solidFill>
                  <a:srgbClr val="344054"/>
                </a:solidFill>
              </a:rPr>
              <a:t>PEP-3 流程从量表、录分、进度、报告到计划在线化，体现垂直领域能力。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F6D48-1F33-43CC-A823-DC78BBE6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95300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4075C-0366-4ED5-8845-EF4CD1D9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571500" cy="571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C0C00-920D-422A-87D4-93D97453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A06F"/>
                </a:solidFill>
              </a:defRPr>
            </a:pPr>
            <a:r>
              <a:rPr sz="1575" b="1">
                <a:solidFill>
                  <a:srgbClr val="14A06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4485C-129F-497D-82CA-4E866833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多角色协同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3E1F8-AF94-49FA-A21C-BF923745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005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344054"/>
                </a:solidFill>
              </a:defRPr>
            </a:pPr>
            <a:r>
              <a:rPr sz="1140" b="0">
                <a:solidFill>
                  <a:srgbClr val="344054"/>
                </a:solidFill>
              </a:rPr>
              <a:t>平台、机构、老师、家长、监管各有入口，数据围绕同一业务对象沉淀。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76BAC-3F17-4F7A-97C1-60B908CC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29250"/>
            <a:ext cx="9105900" cy="457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B8FFE-2B00-4FC9-8712-DC168F3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783D"/>
                </a:solidFill>
              </a:defRPr>
            </a:pPr>
            <a:r>
              <a:rPr sz="1200" b="1">
                <a:solidFill>
                  <a:srgbClr val="F0783D"/>
                </a:solidFill>
              </a:rPr>
              <a:t>建议表达：这不是“又做了几个页面”，而是把业务交付方式从人工推进变成平台化配置和闭环运营。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F3659-5260-46C3-817B-AC68A59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96"/>
                </a:solidFill>
              </a:defRPr>
            </a:pPr>
            <a:r>
              <a:rPr sz="825" b="0">
                <a:solidFill>
                  <a:srgbClr val="778396"/>
                </a:solidFill>
              </a:rPr>
              <a:t>教育康复多端业务平台项目汇报 · 8/9</a:t>
            </a:r>
          </a:p>
        </p:txBody>
      </p:sp>
    </p:spTree>
    <p:extLst>
      <p:ext uri="{BB962C8B-B14F-4D97-AF65-F5344CB8AC3E}">
        <p14:creationId xmlns:p14="http://schemas.microsoft.com/office/powerpoint/2010/main" val="9485505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5CD71F-108E-4995-9BE5-084007C3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FBD15-52F3-4A91-AFFE-8C7274B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总结与下一步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F3F38-CF27-4DB8-A55F-496621F9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8396"/>
                </a:solidFill>
              </a:defRPr>
            </a:pPr>
            <a:r>
              <a:rPr sz="1050" b="0">
                <a:solidFill>
                  <a:srgbClr val="778396"/>
                </a:solidFill>
              </a:rPr>
              <a:t>汇报最后用一页收住：项目价值、演示顺序、后续可继续增强的地方。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07794-D0F3-4515-A362-635A47E7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21AB5-D441-4487-93AC-D9FAE13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5143500" cy="3714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91FC7-73BD-4FD7-9D69-643D6361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建议汇报顺序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E5106-19B7-46D0-A97F-25D08618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783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7E4E3-1182-4575-AA3B-2CCBCDA4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0"/>
            <a:ext cx="385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先讲痛点：开客户慢、运营散、评估重、数据难汇总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086BA-DF68-492D-9B0A-BEE47592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05C1B-487F-4DD5-9C67-D908D923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385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再讲板块：总控后台、机构后台、评估 Pad、家长端、政府端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F01EA-CC8F-4F2B-A238-52ABF2D0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7257C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D690D-5B5E-4213-8AB0-5B85271D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385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重点演示：登录页配置、课表排课、PEP-3 录分和报告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E246D-5120-42E3-95D1-C8320FCD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4A0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30664-EF8D-43EC-ACD3-BF38AF73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最后落到价值：标准化交付、多端协同、结果沉淀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EBD20-F2DF-48E5-94F8-E6C3AFA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47800"/>
            <a:ext cx="5143500" cy="3714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A26FB-3919-442C-8FCE-16259305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下一步建议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DAB64-32EB-4109-8766-494D117B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0783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8B15A-7FEB-4FD3-A5AF-8FDDF76C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385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准备一套完整演示数据，覆盖客户开通到出报告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10185-CE3B-4E20-98E0-F979A1F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4A0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A2992-5A9A-4432-B9B7-9541B684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19400"/>
            <a:ext cx="385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补齐家长端、政府端的展示截图，汇报更完整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5EFD9-D6E0-422D-8CDC-B2DEA9FB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671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7C68A-91F4-473C-90CF-D85E3AAA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52800"/>
            <a:ext cx="385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整理现场演示账号和固定演示路径，减少临场切换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EA7AF-7E7E-404D-BB7E-ECAE75D3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76200" cy="76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7257C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52D50-7DC1-441F-B802-6BB1955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86200"/>
            <a:ext cx="385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把高频客户差异沉淀成更多可配置项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34BE2-AC07-49D6-825B-56D20C37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325100" cy="457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BCF5F-0150-41E7-89D4-D5D9F86D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979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A06F"/>
                </a:solidFill>
              </a:defRPr>
            </a:pPr>
            <a:r>
              <a:rPr sz="1200" b="1">
                <a:solidFill>
                  <a:srgbClr val="14A06F"/>
                </a:solidFill>
              </a:rPr>
              <a:t>一句话结论：项目已经形成“开客户、管机构、做评估、出结果、看监管”的业务闭环，具备继续做产品化交付的基础。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7B8B6-2A87-4F15-8BB8-B74A2EA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396"/>
                </a:solidFill>
              </a:defRPr>
            </a:pPr>
            <a:r>
              <a:rPr sz="825" b="0">
                <a:solidFill>
                  <a:srgbClr val="778396"/>
                </a:solidFill>
              </a:rPr>
              <a:t>教育康复多端业务平台项目汇报 · 9/9</a:t>
            </a:r>
          </a:p>
        </p:txBody>
      </p:sp>
    </p:spTree>
    <p:extLst>
      <p:ext uri="{BB962C8B-B14F-4D97-AF65-F5344CB8AC3E}">
        <p14:creationId xmlns:p14="http://schemas.microsoft.com/office/powerpoint/2010/main" val="1816316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2026-05-06T02:30:10.0070000Z</dcterms:created>
  <dcterms:modified xsi:type="dcterms:W3CDTF">2026-05-06T02:30:10.0070000Z</dcterms:modified>
</coreProperties>
</file>